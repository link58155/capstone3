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02336">
              <a:defRPr b="1" sz="3872">
                <a:solidFill>
                  <a:srgbClr val="FCF5F6"/>
                </a:solidFill>
              </a:defRPr>
            </a:lvl1pPr>
          </a:lstStyle>
          <a:p>
            <a:pPr/>
            <a:r>
              <a:t>Predicting Near-Term Customer Value to Improve Promotional Targeting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Elliot Gaynon</a:t>
            </a:r>
          </a:p>
          <a:p>
            <a:pPr/>
            <a:r>
              <a:t>Capstone Presentation</a:t>
            </a:r>
          </a:p>
          <a:p>
            <a:pPr/>
            <a:r>
              <a:t>March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Business Problem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166018"/>
            <a:ext cx="8229600" cy="45259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200000"/>
              </a:lnSpc>
              <a:defRPr>
                <a:solidFill>
                  <a:srgbClr val="A7A7A7"/>
                </a:solidFill>
              </a:defRPr>
            </a:pPr>
            <a:r>
              <a:t>Promotions often fail to generate revenue.</a:t>
            </a:r>
          </a:p>
          <a:p>
            <a:pPr>
              <a:lnSpc>
                <a:spcPct val="200000"/>
              </a:lnSpc>
              <a:defRPr>
                <a:solidFill>
                  <a:srgbClr val="A7A7A7"/>
                </a:solidFill>
              </a:defRPr>
            </a:pPr>
            <a:r>
              <a:t>Marketing budgets are limited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Goal: Identify customers likely to generate revenue soon.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11479">
              <a:defRPr b="1" sz="3959">
                <a:solidFill>
                  <a:srgbClr val="FFFFFF"/>
                </a:solidFill>
              </a:defRPr>
            </a:lvl1pPr>
          </a:lstStyle>
          <a:p>
            <a:pPr/>
            <a:r>
              <a:t>Context, Stakeholders, Success Metrics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Stakeholders: Marketing teams, CRM managers, business analysts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Success Metrics: RMSE accuracy and ability to identify high‑value customers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Business Impact: Improved marketing ROI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Constraints: Skewed revenue and many zero‑revenue customers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Framing the Data Science Problem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Supervised regression problem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Predict 60‑day future customer revenue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Features: Recency, Frequency, Monetary, Average Order Value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Target: 60‑day revenue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Dataset Overview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Online Retail transactional dataset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UK-based retailer transactions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Includes invoices, products, quantity, price, customers, dates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Aggregated to customer-level dataset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Data Cleaning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Removed canceled transactions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Removed missing customer IDs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Created revenue column (Quantity × Unit Price)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Defined cutoff date for prediction window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Feature Engineering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Recency: Days since last purchase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Frequency: Number of purchases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Monetary Value: Total historical spending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Average Order Value (AOV)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Target: Revenue in next 60 days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Future Revenue Distribution</a:t>
            </a:r>
          </a:p>
        </p:txBody>
      </p:sp>
      <p:sp>
        <p:nvSpPr>
          <p:cNvPr id="116" name="Content Placeholder 2"/>
          <p:cNvSpPr txBox="1"/>
          <p:nvPr>
            <p:ph type="body" sz="quarter" idx="1"/>
          </p:nvPr>
        </p:nvSpPr>
        <p:spPr>
          <a:xfrm>
            <a:off x="2254597" y="4546600"/>
            <a:ext cx="4634806" cy="1408609"/>
          </a:xfrm>
          <a:prstGeom prst="rect">
            <a:avLst/>
          </a:prstGeom>
        </p:spPr>
        <p:txBody>
          <a:bodyPr/>
          <a:lstStyle/>
          <a:p>
            <a:pPr marL="226314" indent="-226314" defTabSz="301752">
              <a:spcBef>
                <a:spcPts val="500"/>
              </a:spcBef>
              <a:defRPr sz="2112">
                <a:solidFill>
                  <a:srgbClr val="A7A7A7"/>
                </a:solidFill>
              </a:defRPr>
            </a:pPr>
            <a:r>
              <a:t>Highly right-skewed distribution</a:t>
            </a:r>
          </a:p>
          <a:p>
            <a:pPr marL="226314" indent="-226314" defTabSz="301752">
              <a:spcBef>
                <a:spcPts val="500"/>
              </a:spcBef>
              <a:defRPr sz="2112">
                <a:solidFill>
                  <a:srgbClr val="A7A7A7"/>
                </a:solidFill>
              </a:defRPr>
            </a:pPr>
            <a:r>
              <a:t>Many customers generate zero revenue</a:t>
            </a:r>
          </a:p>
          <a:p>
            <a:pPr marL="226314" indent="-226314" defTabSz="301752">
              <a:spcBef>
                <a:spcPts val="500"/>
              </a:spcBef>
              <a:defRPr sz="2112">
                <a:solidFill>
                  <a:srgbClr val="A7A7A7"/>
                </a:solidFill>
              </a:defRPr>
            </a:pPr>
            <a:r>
              <a:t>Small number of high-value customers</a:t>
            </a:r>
          </a:p>
        </p:txBody>
      </p:sp>
      <p:pic>
        <p:nvPicPr>
          <p:cNvPr id="117" name="01- Target Distribution.png" descr="01- Target Distribu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08679" y="1362571"/>
            <a:ext cx="4526642" cy="28934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Feature Relationships</a:t>
            </a:r>
          </a:p>
        </p:txBody>
      </p:sp>
      <p:sp>
        <p:nvSpPr>
          <p:cNvPr id="120" name="Content Placeholder 2"/>
          <p:cNvSpPr txBox="1"/>
          <p:nvPr>
            <p:ph type="body" sz="quarter" idx="1"/>
          </p:nvPr>
        </p:nvSpPr>
        <p:spPr>
          <a:xfrm>
            <a:off x="457200" y="50673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</a:defRPr>
            </a:lvl1pPr>
          </a:lstStyle>
          <a:p>
            <a:pPr/>
            <a:r>
              <a:t>Frequency and Monetary show positive relationships</a:t>
            </a:r>
          </a:p>
        </p:txBody>
      </p:sp>
      <p:pic>
        <p:nvPicPr>
          <p:cNvPr id="121" name="Frequency vs Revenue.png" descr="Frequency vs Revenu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242" y="2273661"/>
            <a:ext cx="3933594" cy="2310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Monetary vs Revenue.png" descr="Monetary vs Revenu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46721" y="2273661"/>
            <a:ext cx="3704026" cy="23106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Feature Relationships</a:t>
            </a:r>
          </a:p>
        </p:txBody>
      </p:sp>
      <p:sp>
        <p:nvSpPr>
          <p:cNvPr id="125" name="Content Placeholder 2"/>
          <p:cNvSpPr txBox="1"/>
          <p:nvPr>
            <p:ph type="body" sz="quarter" idx="1"/>
          </p:nvPr>
        </p:nvSpPr>
        <p:spPr>
          <a:xfrm>
            <a:off x="1128067" y="4927600"/>
            <a:ext cx="6887866" cy="125248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</a:p>
          <a:p>
            <a:pPr>
              <a:defRPr>
                <a:solidFill>
                  <a:srgbClr val="A7A7A7"/>
                </a:solidFill>
              </a:defRPr>
            </a:pPr>
            <a:r>
              <a:t>Recency has a negative relationship </a:t>
            </a:r>
          </a:p>
        </p:txBody>
      </p:sp>
      <p:pic>
        <p:nvPicPr>
          <p:cNvPr id="126" name="Recency vs Revenue.png" descr="Recency vs Revenu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3807" y="1655725"/>
            <a:ext cx="5956386" cy="3546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Feature Relationships</a:t>
            </a:r>
          </a:p>
        </p:txBody>
      </p:sp>
      <p:sp>
        <p:nvSpPr>
          <p:cNvPr id="129" name="Content Placeholder 2"/>
          <p:cNvSpPr txBox="1"/>
          <p:nvPr>
            <p:ph type="body" sz="quarter" idx="1"/>
          </p:nvPr>
        </p:nvSpPr>
        <p:spPr>
          <a:xfrm>
            <a:off x="457200" y="5143500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AOV weaker signal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Behavioral features still informative</a:t>
            </a:r>
          </a:p>
        </p:txBody>
      </p:sp>
      <p:pic>
        <p:nvPicPr>
          <p:cNvPr id="130" name="AOV vs Revenue.png" descr="AOV vs Revenu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8506" y="1957428"/>
            <a:ext cx="4946988" cy="29431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Correlation</a:t>
            </a:r>
          </a:p>
        </p:txBody>
      </p:sp>
      <p:sp>
        <p:nvSpPr>
          <p:cNvPr id="133" name="Content Placeholder 2"/>
          <p:cNvSpPr txBox="1"/>
          <p:nvPr>
            <p:ph type="body" sz="half" idx="1"/>
          </p:nvPr>
        </p:nvSpPr>
        <p:spPr>
          <a:xfrm>
            <a:off x="457200" y="5003800"/>
            <a:ext cx="8229600" cy="1562002"/>
          </a:xfrm>
          <a:prstGeom prst="rect">
            <a:avLst/>
          </a:prstGeom>
        </p:spPr>
        <p:txBody>
          <a:bodyPr/>
          <a:lstStyle/>
          <a:p>
            <a:pPr marL="318897" indent="-318897" defTabSz="425195">
              <a:defRPr sz="2976">
                <a:solidFill>
                  <a:srgbClr val="A7A7A7"/>
                </a:solidFill>
              </a:defRPr>
            </a:pPr>
            <a:r>
              <a:t>Pearson Correlation - Statistically Significant</a:t>
            </a:r>
          </a:p>
          <a:p>
            <a:pPr marL="318897" indent="-318897" defTabSz="425195">
              <a:defRPr sz="2976">
                <a:solidFill>
                  <a:srgbClr val="A7A7A7"/>
                </a:solidFill>
              </a:defRPr>
            </a:pPr>
            <a:r>
              <a:t>Frequency and Monetary strongest correlations</a:t>
            </a:r>
          </a:p>
          <a:p>
            <a:pPr marL="318897" indent="-318897" defTabSz="425195">
              <a:defRPr sz="2976">
                <a:solidFill>
                  <a:srgbClr val="A7A7A7"/>
                </a:solidFill>
              </a:defRPr>
            </a:pPr>
            <a:r>
              <a:t>Recency negative relationship</a:t>
            </a:r>
          </a:p>
        </p:txBody>
      </p:sp>
      <p:pic>
        <p:nvPicPr>
          <p:cNvPr id="134" name="Correlation Matrix.png" descr="Correlation Matri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37583" y="1371536"/>
            <a:ext cx="4468834" cy="32211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Feature Importance</a:t>
            </a:r>
          </a:p>
        </p:txBody>
      </p:sp>
      <p:sp>
        <p:nvSpPr>
          <p:cNvPr id="137" name="Content Placeholder 2"/>
          <p:cNvSpPr txBox="1"/>
          <p:nvPr>
            <p:ph type="body" sz="half" idx="1"/>
          </p:nvPr>
        </p:nvSpPr>
        <p:spPr>
          <a:xfrm>
            <a:off x="457200" y="4382194"/>
            <a:ext cx="8229600" cy="179476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</a:p>
          <a:p>
            <a:pPr>
              <a:defRPr>
                <a:solidFill>
                  <a:srgbClr val="A7A7A7"/>
                </a:solidFill>
              </a:defRPr>
            </a:pPr>
            <a:r>
              <a:t>Random Forest confirms feature importance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Multiple features contribute to prediction</a:t>
            </a:r>
          </a:p>
        </p:txBody>
      </p:sp>
      <p:pic>
        <p:nvPicPr>
          <p:cNvPr id="138" name="RF Feature Importance.png" descr="RF Feature Importanc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6682" y="1286404"/>
            <a:ext cx="5010636" cy="2913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Customer Behavior Insights</a:t>
            </a:r>
          </a:p>
        </p:txBody>
      </p:sp>
      <p:sp>
        <p:nvSpPr>
          <p:cNvPr id="14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Frequent buyers spend more in future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Recent buyers more likely to return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Historical spending linked to future revenue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Key marketing insight: engagement matters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Modeling Approach</a:t>
            </a:r>
          </a:p>
        </p:txBody>
      </p:sp>
      <p:sp>
        <p:nvSpPr>
          <p:cNvPr id="14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Models tested: Ridge Regression, Random Forest, Gradient Boosting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Hyperparameter tuning with GridSearchCV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Evaluation metric: RMSE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Goal: Best predictive performance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Final Model Selection</a:t>
            </a:r>
          </a:p>
        </p:txBody>
      </p:sp>
      <p:sp>
        <p:nvSpPr>
          <p:cNvPr id="147" name="Content Placeholder 2"/>
          <p:cNvSpPr txBox="1"/>
          <p:nvPr>
            <p:ph type="body" idx="1"/>
          </p:nvPr>
        </p:nvSpPr>
        <p:spPr>
          <a:xfrm>
            <a:off x="457200" y="52324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Gradient Boosting achieved lowest RMSE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Prediction error ≈ £14.75 per customer</a:t>
            </a:r>
          </a:p>
        </p:txBody>
      </p:sp>
      <p:pic>
        <p:nvPicPr>
          <p:cNvPr id="148" name="Model Comparison.png" descr="Model Comparis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3462" y="1725520"/>
            <a:ext cx="7237076" cy="3198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Feature Importance</a:t>
            </a:r>
          </a:p>
        </p:txBody>
      </p:sp>
      <p:sp>
        <p:nvSpPr>
          <p:cNvPr id="151" name="Content Placeholder 2"/>
          <p:cNvSpPr txBox="1"/>
          <p:nvPr>
            <p:ph type="body" sz="quarter" idx="1"/>
          </p:nvPr>
        </p:nvSpPr>
        <p:spPr>
          <a:xfrm>
            <a:off x="457200" y="5130800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Frequency strongest predictor for RF and GB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Recency and Monetary also important</a:t>
            </a:r>
          </a:p>
        </p:txBody>
      </p:sp>
      <p:pic>
        <p:nvPicPr>
          <p:cNvPr id="152" name="Feature Importance Comparison.png" descr="Feature Importance Comparis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3321" y="1679316"/>
            <a:ext cx="4917358" cy="3189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Residual Analysis</a:t>
            </a:r>
          </a:p>
        </p:txBody>
      </p:sp>
      <p:sp>
        <p:nvSpPr>
          <p:cNvPr id="155" name="Content Placeholder 2"/>
          <p:cNvSpPr txBox="1"/>
          <p:nvPr>
            <p:ph type="body" sz="quarter" idx="1"/>
          </p:nvPr>
        </p:nvSpPr>
        <p:spPr>
          <a:xfrm>
            <a:off x="457200" y="5168900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Model slightly overpredicts inactive customers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Underpredicts highest spenders</a:t>
            </a:r>
          </a:p>
        </p:txBody>
      </p:sp>
      <p:pic>
        <p:nvPicPr>
          <p:cNvPr id="156" name="Actual Vs Predicted.png" descr="Actual Vs Predicted.png"/>
          <p:cNvPicPr>
            <a:picLocks noChangeAspect="1"/>
          </p:cNvPicPr>
          <p:nvPr/>
        </p:nvPicPr>
        <p:blipFill>
          <a:blip r:embed="rId2">
            <a:extLst/>
          </a:blip>
          <a:srcRect l="0" t="0" r="17939" b="0"/>
          <a:stretch>
            <a:fillRect/>
          </a:stretch>
        </p:blipFill>
        <p:spPr>
          <a:xfrm>
            <a:off x="2256432" y="1451459"/>
            <a:ext cx="4631152" cy="3284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Business Recommendations</a:t>
            </a:r>
          </a:p>
        </p:txBody>
      </p:sp>
      <p:sp>
        <p:nvSpPr>
          <p:cNvPr id="15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Target customers with highest predicted revenue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Focus promotions on frequent buyers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Re-engage recently inactive valuable customers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Integrate model into marketing strategy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2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Future Work</a:t>
            </a:r>
          </a:p>
        </p:txBody>
      </p:sp>
      <p:sp>
        <p:nvSpPr>
          <p:cNvPr id="16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A7A7A7"/>
                </a:solidFill>
              </a:defRPr>
            </a:pPr>
            <a:r>
              <a:t>Add product and geographic features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Test advanced models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Implement two-stage modeling approach</a:t>
            </a:r>
          </a:p>
          <a:p>
            <a:pPr>
              <a:defRPr>
                <a:solidFill>
                  <a:srgbClr val="A7A7A7"/>
                </a:solidFill>
              </a:defRPr>
            </a:pPr>
            <a:r>
              <a:t>Measure real campaign impact</a:t>
            </a:r>
          </a:p>
        </p:txBody>
      </p:sp>
      <p:sp>
        <p:nvSpPr>
          <p:cNvPr id="163" name="Text"/>
          <p:cNvSpPr txBox="1"/>
          <p:nvPr/>
        </p:nvSpPr>
        <p:spPr>
          <a:xfrm>
            <a:off x="4331122" y="3262456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164" name="Text"/>
          <p:cNvSpPr txBox="1"/>
          <p:nvPr/>
        </p:nvSpPr>
        <p:spPr>
          <a:xfrm>
            <a:off x="4458122" y="3389456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